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78" r:id="rId4"/>
    <p:sldId id="276" r:id="rId5"/>
    <p:sldId id="277" r:id="rId6"/>
    <p:sldId id="275" r:id="rId7"/>
    <p:sldId id="280" r:id="rId8"/>
    <p:sldId id="284" r:id="rId9"/>
    <p:sldId id="281" r:id="rId10"/>
    <p:sldId id="282" r:id="rId11"/>
    <p:sldId id="283" r:id="rId12"/>
    <p:sldId id="279" r:id="rId13"/>
    <p:sldId id="285" r:id="rId14"/>
    <p:sldId id="286" r:id="rId15"/>
    <p:sldId id="287" r:id="rId16"/>
    <p:sldId id="288" r:id="rId17"/>
    <p:sldId id="289" r:id="rId18"/>
    <p:sldId id="290" r:id="rId19"/>
    <p:sldId id="29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46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01444"/>
            <a:ext cx="7772400" cy="4070195"/>
          </a:xfrm>
        </p:spPr>
        <p:txBody>
          <a:bodyPr/>
          <a:lstStyle/>
          <a:p>
            <a:r>
              <a:rPr dirty="0"/>
              <a:t>Lecture </a:t>
            </a:r>
            <a:r>
              <a:rPr lang="en-US" dirty="0"/>
              <a:t>1</a:t>
            </a:r>
            <a:r>
              <a:rPr dirty="0"/>
              <a:t>: </a:t>
            </a:r>
            <a:r>
              <a:rPr lang="en-US" dirty="0"/>
              <a:t>Introduction</a:t>
            </a:r>
            <a:br>
              <a:rPr lang="en-US" dirty="0"/>
            </a:br>
            <a:br>
              <a:rPr lang="en-US" dirty="0"/>
            </a:b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DF1E610-DAA0-D0D4-FE3B-B8EC3910BC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C4B6E-24B7-83EC-57D8-22D3C493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6D4E-93A7-4B8B-3C0C-80AC6181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DevOps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74FED75-6F64-54ED-FE7B-3BE1236D84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90065"/>
            <a:ext cx="855298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DevOps =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+ Operations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culture, practice, and mindset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improves collaboration between: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Developers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Operations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Faster, reliable, and continuous delivery of software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200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F3686-2F5D-DB95-2082-9ED7FCEFD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E2281-2ADB-9683-719A-81B5639CE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DevOps</a:t>
            </a:r>
            <a:endParaRPr dirty="0"/>
          </a:p>
        </p:txBody>
      </p:sp>
      <p:pic>
        <p:nvPicPr>
          <p:cNvPr id="4" name="Content Placeholder 3" descr="A diagram of a process&#10;&#10;AI-generated content may be incorrect.">
            <a:extLst>
              <a:ext uri="{FF2B5EF4-FFF2-40B4-BE49-F238E27FC236}">
                <a16:creationId xmlns:a16="http://schemas.microsoft.com/office/drawing/2014/main" id="{29EA5D62-7C63-4B11-CCC3-82801C5F88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276592" y="1973585"/>
            <a:ext cx="6590815" cy="3390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5737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F77E4-FF32-4876-BC38-CCBFEA74A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DAA0-47C0-BC7D-276F-9981987ED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DevOps is Needed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263021-A937-0D7E-7D01-95A5BA0E44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8644" y="1748016"/>
            <a:ext cx="8151541" cy="4450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b="1" dirty="0"/>
              <a:t>Traditional Software Development Problems</a:t>
            </a:r>
            <a:endParaRPr lang="en-US" sz="2400" dirty="0"/>
          </a:p>
          <a:p>
            <a:r>
              <a:rPr lang="en-US" sz="2400" dirty="0"/>
              <a:t>Long release cycles</a:t>
            </a:r>
          </a:p>
          <a:p>
            <a:r>
              <a:rPr lang="en-US" sz="2400" dirty="0"/>
              <a:t>Manual deployments</a:t>
            </a:r>
          </a:p>
          <a:p>
            <a:r>
              <a:rPr lang="en-US" sz="2400" dirty="0"/>
              <a:t>Frequent failures in production</a:t>
            </a:r>
          </a:p>
          <a:p>
            <a:r>
              <a:rPr lang="en-US" sz="2400" dirty="0"/>
              <a:t>Poor communication between teams</a:t>
            </a:r>
          </a:p>
          <a:p>
            <a:pPr marL="0" indent="0">
              <a:buNone/>
            </a:pPr>
            <a:r>
              <a:rPr lang="en-US" sz="2400" b="1" dirty="0"/>
              <a:t>DevOps Solution</a:t>
            </a:r>
            <a:endParaRPr lang="en-US" sz="2400" dirty="0"/>
          </a:p>
          <a:p>
            <a:r>
              <a:rPr lang="en-US" sz="2400" dirty="0"/>
              <a:t>Automation</a:t>
            </a:r>
          </a:p>
          <a:p>
            <a:r>
              <a:rPr lang="en-US" sz="2400" dirty="0"/>
              <a:t>Continuous feedback</a:t>
            </a:r>
          </a:p>
          <a:p>
            <a:r>
              <a:rPr lang="en-US" sz="2400" dirty="0"/>
              <a:t>Faster releases</a:t>
            </a:r>
          </a:p>
          <a:p>
            <a:r>
              <a:rPr lang="en-US" sz="2400" dirty="0"/>
              <a:t>Improved quality</a:t>
            </a:r>
          </a:p>
        </p:txBody>
      </p:sp>
    </p:spTree>
    <p:extLst>
      <p:ext uri="{BB962C8B-B14F-4D97-AF65-F5344CB8AC3E}">
        <p14:creationId xmlns:p14="http://schemas.microsoft.com/office/powerpoint/2010/main" val="1715204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F3AF5-C4F9-D8E3-3B08-2FA2311CD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65E8-3AAC-C919-576B-EF6799CA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vs DevOps Approach</a:t>
            </a:r>
            <a:endParaRPr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1DA313AB-928B-18D1-9F88-769C6515E4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492483"/>
              </p:ext>
            </p:extLst>
          </p:nvPr>
        </p:nvGraphicFramePr>
        <p:xfrm>
          <a:off x="1003609" y="1918009"/>
          <a:ext cx="7415562" cy="2988526"/>
        </p:xfrm>
        <a:graphic>
          <a:graphicData uri="http://schemas.openxmlformats.org/drawingml/2006/table">
            <a:tbl>
              <a:tblPr/>
              <a:tblGrid>
                <a:gridCol w="3707781">
                  <a:extLst>
                    <a:ext uri="{9D8B030D-6E8A-4147-A177-3AD203B41FA5}">
                      <a16:colId xmlns:a16="http://schemas.microsoft.com/office/drawing/2014/main" val="3586220274"/>
                    </a:ext>
                  </a:extLst>
                </a:gridCol>
                <a:gridCol w="3707781">
                  <a:extLst>
                    <a:ext uri="{9D8B030D-6E8A-4147-A177-3AD203B41FA5}">
                      <a16:colId xmlns:a16="http://schemas.microsoft.com/office/drawing/2014/main" val="3476289751"/>
                    </a:ext>
                  </a:extLst>
                </a:gridCol>
              </a:tblGrid>
              <a:tr h="5486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Traditional Model</a:t>
                      </a:r>
                    </a:p>
                  </a:txBody>
                  <a:tcPr marL="26194" marR="26194" marT="13097" marB="13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DevOps Model</a:t>
                      </a:r>
                    </a:p>
                  </a:txBody>
                  <a:tcPr marL="26194" marR="26194" marT="13097" marB="13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218446"/>
                  </a:ext>
                </a:extLst>
              </a:tr>
              <a:tr h="5486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Separate teams</a:t>
                      </a:r>
                    </a:p>
                  </a:txBody>
                  <a:tcPr marL="26194" marR="26194" marT="13097" marB="13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Collaborative teams</a:t>
                      </a:r>
                    </a:p>
                  </a:txBody>
                  <a:tcPr marL="26194" marR="26194" marT="13097" marB="13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396924"/>
                  </a:ext>
                </a:extLst>
              </a:tr>
              <a:tr h="793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Manual testing &amp; deployment</a:t>
                      </a:r>
                    </a:p>
                  </a:txBody>
                  <a:tcPr marL="26194" marR="26194" marT="13097" marB="13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Automated pipelines</a:t>
                      </a:r>
                    </a:p>
                  </a:txBody>
                  <a:tcPr marL="26194" marR="26194" marT="13097" marB="13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868877"/>
                  </a:ext>
                </a:extLst>
              </a:tr>
              <a:tr h="5486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Slow releases</a:t>
                      </a:r>
                    </a:p>
                  </a:txBody>
                  <a:tcPr marL="26194" marR="26194" marT="13097" marB="13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Rapid &amp; frequent releases</a:t>
                      </a:r>
                    </a:p>
                  </a:txBody>
                  <a:tcPr marL="26194" marR="26194" marT="13097" marB="13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68061"/>
                  </a:ext>
                </a:extLst>
              </a:tr>
              <a:tr h="5486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Reactive fixes</a:t>
                      </a:r>
                    </a:p>
                  </a:txBody>
                  <a:tcPr marL="26194" marR="26194" marT="13097" marB="13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Proactive monitoring</a:t>
                      </a:r>
                    </a:p>
                  </a:txBody>
                  <a:tcPr marL="26194" marR="26194" marT="13097" marB="13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304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396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4E516-F04C-D288-BF66-83478FE7C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F55AE-A5B1-D22D-AED6-47F4EA17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DevOps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9DC0D-0991-C045-B8C1-54243F983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DevOps is </a:t>
            </a:r>
            <a:r>
              <a:rPr lang="en-US" b="1" dirty="0"/>
              <a:t>not a tool</a:t>
            </a:r>
            <a:r>
              <a:rPr lang="en-US" dirty="0"/>
              <a:t>, it is a </a:t>
            </a:r>
            <a:r>
              <a:rPr lang="en-US" b="1" dirty="0"/>
              <a:t>culture</a:t>
            </a:r>
            <a:r>
              <a:rPr lang="en-US" dirty="0"/>
              <a:t> based on:</a:t>
            </a:r>
          </a:p>
          <a:p>
            <a:r>
              <a:rPr lang="en-US" dirty="0"/>
              <a:t>Collaboration </a:t>
            </a:r>
          </a:p>
          <a:p>
            <a:r>
              <a:rPr lang="en-US" dirty="0"/>
              <a:t>Ownership </a:t>
            </a:r>
          </a:p>
          <a:p>
            <a:r>
              <a:rPr lang="en-US" dirty="0"/>
              <a:t>Automation </a:t>
            </a:r>
          </a:p>
          <a:p>
            <a:r>
              <a:rPr lang="en-US" dirty="0"/>
              <a:t>Continuous improvement </a:t>
            </a:r>
          </a:p>
          <a:p>
            <a:pPr marL="0" indent="0">
              <a:buNone/>
            </a:pPr>
            <a:r>
              <a:rPr lang="en-US" b="1" dirty="0"/>
              <a:t>CAMs Model</a:t>
            </a:r>
            <a:endParaRPr lang="en-US" dirty="0"/>
          </a:p>
          <a:p>
            <a:r>
              <a:rPr lang="en-US" b="1" dirty="0"/>
              <a:t>C</a:t>
            </a:r>
            <a:r>
              <a:rPr lang="en-US" dirty="0"/>
              <a:t>ulture</a:t>
            </a:r>
          </a:p>
          <a:p>
            <a:r>
              <a:rPr lang="en-US" b="1" dirty="0"/>
              <a:t>A</a:t>
            </a:r>
            <a:r>
              <a:rPr lang="en-US" dirty="0"/>
              <a:t>utomation</a:t>
            </a:r>
          </a:p>
          <a:p>
            <a:r>
              <a:rPr lang="en-US" b="1" dirty="0"/>
              <a:t>M</a:t>
            </a:r>
            <a:r>
              <a:rPr lang="en-US" dirty="0"/>
              <a:t>easurement</a:t>
            </a:r>
          </a:p>
          <a:p>
            <a:r>
              <a:rPr lang="en-US" b="1" dirty="0"/>
              <a:t>S</a:t>
            </a:r>
            <a:r>
              <a:rPr lang="en-US" dirty="0"/>
              <a:t>haring</a:t>
            </a:r>
          </a:p>
        </p:txBody>
      </p:sp>
    </p:spTree>
    <p:extLst>
      <p:ext uri="{BB962C8B-B14F-4D97-AF65-F5344CB8AC3E}">
        <p14:creationId xmlns:p14="http://schemas.microsoft.com/office/powerpoint/2010/main" val="1288297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DACAF-38BA-973E-5F26-AAB5BF3D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6528E-1D70-80CC-0971-0886E339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DevOps Lifecycle</a:t>
            </a:r>
          </a:p>
        </p:txBody>
      </p:sp>
      <p:pic>
        <p:nvPicPr>
          <p:cNvPr id="5" name="Content Placeholder 4" descr="A diagram of software development&#10;&#10;AI-generated content may be incorrect.">
            <a:extLst>
              <a:ext uri="{FF2B5EF4-FFF2-40B4-BE49-F238E27FC236}">
                <a16:creationId xmlns:a16="http://schemas.microsoft.com/office/drawing/2014/main" id="{6E354659-6705-9F5C-FAAE-E1D11B0DB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  <p:extLst>
      <p:ext uri="{BB962C8B-B14F-4D97-AF65-F5344CB8AC3E}">
        <p14:creationId xmlns:p14="http://schemas.microsoft.com/office/powerpoint/2010/main" val="3000995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38C6E-236E-6EE6-8909-C02E207ED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2D36-28CC-758E-56F1-C8101ACD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DevOps Lifecycle</a:t>
            </a:r>
          </a:p>
        </p:txBody>
      </p:sp>
      <p:pic>
        <p:nvPicPr>
          <p:cNvPr id="7" name="Content Placeholder 6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4330469D-F903-5875-97C9-3F1EE9C5A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7957" y="1600200"/>
            <a:ext cx="6668085" cy="4525963"/>
          </a:xfrm>
        </p:spPr>
      </p:pic>
    </p:spTree>
    <p:extLst>
      <p:ext uri="{BB962C8B-B14F-4D97-AF65-F5344CB8AC3E}">
        <p14:creationId xmlns:p14="http://schemas.microsoft.com/office/powerpoint/2010/main" val="619815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60BB7-4416-1EFD-1948-A0FACBDF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F5D4-3144-20E4-97EB-2151881E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DevOps Practices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65CDBFB-CC68-872A-2ED5-35D62E34A6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27472"/>
            <a:ext cx="74936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Integration (CI)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Testing (CT)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Deployment (CD)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as Code 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IaC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Configuration Management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Monitoring</a:t>
            </a:r>
          </a:p>
        </p:txBody>
      </p:sp>
    </p:spTree>
    <p:extLst>
      <p:ext uri="{BB962C8B-B14F-4D97-AF65-F5344CB8AC3E}">
        <p14:creationId xmlns:p14="http://schemas.microsoft.com/office/powerpoint/2010/main" val="4246474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1E9B3-E289-73CC-EAC4-C9A8CD472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BC63F-2662-AB42-C906-94CD2580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Continuous Integration (CI)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75866-993D-B2C2-D733-CE2C5110B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Developers frequently merge code into a shared repository</a:t>
            </a:r>
          </a:p>
          <a:p>
            <a:r>
              <a:rPr lang="en-US" sz="2800" dirty="0"/>
              <a:t>Automated:</a:t>
            </a:r>
          </a:p>
          <a:p>
            <a:pPr lvl="1"/>
            <a:r>
              <a:rPr lang="en-US" sz="2400" dirty="0"/>
              <a:t>Build</a:t>
            </a:r>
          </a:p>
          <a:p>
            <a:pPr lvl="1"/>
            <a:r>
              <a:rPr lang="en-US" sz="2400" dirty="0"/>
              <a:t>Unit testing</a:t>
            </a:r>
          </a:p>
          <a:p>
            <a:r>
              <a:rPr lang="en-US" sz="2800" dirty="0"/>
              <a:t>Detects bugs early</a:t>
            </a:r>
          </a:p>
          <a:p>
            <a:pPr marL="0" indent="0">
              <a:buNone/>
            </a:pPr>
            <a:r>
              <a:rPr lang="en-US" sz="2800" b="1" dirty="0"/>
              <a:t>Benefits</a:t>
            </a:r>
            <a:endParaRPr lang="en-US" sz="2800" dirty="0"/>
          </a:p>
          <a:p>
            <a:r>
              <a:rPr lang="en-US" sz="2800" dirty="0"/>
              <a:t>Faster feedback</a:t>
            </a:r>
          </a:p>
          <a:p>
            <a:r>
              <a:rPr lang="en-US" sz="2800" dirty="0"/>
              <a:t>Reduced integration issues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659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973F7-6372-0862-0D44-357DAA62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79CD1-FE4C-E9D4-BA4C-28ABEEDF3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Continuous Deployment (CD)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CA3A7-A7B0-3BA8-E38B-DC060EBA22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8170" y="1658351"/>
            <a:ext cx="8307659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deploys tested code to production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Containers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scripts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releases per day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343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6F1E2-66C9-A2EA-9F13-07AFAD25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3F03E-EF03-1F9B-E3DF-D7AB9AB3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DevOps Toolchain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4757C-8624-C3A6-3B7E-3B343D1CC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Common DevOps Tools</a:t>
            </a:r>
            <a:endParaRPr lang="en-US" dirty="0"/>
          </a:p>
          <a:p>
            <a:r>
              <a:rPr lang="en-US" dirty="0"/>
              <a:t>Version Control: Git</a:t>
            </a:r>
          </a:p>
          <a:p>
            <a:r>
              <a:rPr lang="en-US" dirty="0"/>
              <a:t>CI/CD: Jenkins, GitHub Actions</a:t>
            </a:r>
          </a:p>
          <a:p>
            <a:r>
              <a:rPr lang="en-US" dirty="0"/>
              <a:t>Containers: Docker</a:t>
            </a:r>
          </a:p>
          <a:p>
            <a:r>
              <a:rPr lang="en-US" dirty="0"/>
              <a:t>Orchestration: Kubernetes</a:t>
            </a:r>
          </a:p>
          <a:p>
            <a:r>
              <a:rPr lang="en-US" dirty="0"/>
              <a:t>Monitoring: Nagios, Prometheus</a:t>
            </a:r>
          </a:p>
          <a:p>
            <a:r>
              <a:rPr lang="en-US" dirty="0"/>
              <a:t>Cloud: AWS, Azure, GCP</a:t>
            </a:r>
          </a:p>
        </p:txBody>
      </p:sp>
    </p:spTree>
    <p:extLst>
      <p:ext uri="{BB962C8B-B14F-4D97-AF65-F5344CB8AC3E}">
        <p14:creationId xmlns:p14="http://schemas.microsoft.com/office/powerpoint/2010/main" val="3488951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BCB9B-A80B-1308-02F9-332E504A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0C676-5DB3-3EFE-BA1B-A564DC843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DevOps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B7BAB79-3EC5-5E19-7AAD-E4204113B2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7492" y="1618830"/>
            <a:ext cx="727059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time to market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software quality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deployment failures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team collaboration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customer feedback</a:t>
            </a:r>
          </a:p>
        </p:txBody>
      </p:sp>
    </p:spTree>
    <p:extLst>
      <p:ext uri="{BB962C8B-B14F-4D97-AF65-F5344CB8AC3E}">
        <p14:creationId xmlns:p14="http://schemas.microsoft.com/office/powerpoint/2010/main" val="2649297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DF557-23B9-827A-9FDB-DB4EA9FC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68C20-7F0E-5FBF-54C9-8B8FFF12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DevOps in Industry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70E07F-D5D3-C9FC-AE0B-15BCE6FDF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6584" y="1600200"/>
            <a:ext cx="6350831" cy="4525963"/>
          </a:xfrm>
        </p:spPr>
      </p:pic>
    </p:spTree>
    <p:extLst>
      <p:ext uri="{BB962C8B-B14F-4D97-AF65-F5344CB8AC3E}">
        <p14:creationId xmlns:p14="http://schemas.microsoft.com/office/powerpoint/2010/main" val="2825394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419A3-1DA9-3F1A-2E1F-1D898F6E4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AB23B-605B-2388-2896-CE589ACCB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DevOps in Industry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93789-8361-6CB1-2876-C077CE882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Used by</a:t>
            </a:r>
            <a:endParaRPr lang="en-US" dirty="0"/>
          </a:p>
          <a:p>
            <a:r>
              <a:rPr lang="en-US" dirty="0"/>
              <a:t>IT Services Companies</a:t>
            </a:r>
          </a:p>
          <a:p>
            <a:r>
              <a:rPr lang="en-US" dirty="0"/>
              <a:t>Startups</a:t>
            </a:r>
          </a:p>
          <a:p>
            <a:r>
              <a:rPr lang="en-US" dirty="0"/>
              <a:t>Product-based companies</a:t>
            </a:r>
          </a:p>
          <a:p>
            <a:r>
              <a:rPr lang="en-US" dirty="0"/>
              <a:t>Cloud-native organizations</a:t>
            </a:r>
          </a:p>
          <a:p>
            <a:pPr marL="0" indent="0">
              <a:buNone/>
            </a:pPr>
            <a:r>
              <a:rPr lang="en-US" b="1" dirty="0"/>
              <a:t>Adopted in</a:t>
            </a:r>
            <a:endParaRPr lang="en-US" dirty="0"/>
          </a:p>
          <a:p>
            <a:r>
              <a:rPr lang="en-US" dirty="0"/>
              <a:t>Web applications</a:t>
            </a:r>
          </a:p>
          <a:p>
            <a:r>
              <a:rPr lang="en-US" dirty="0"/>
              <a:t>Mobile apps</a:t>
            </a:r>
          </a:p>
          <a:p>
            <a:r>
              <a:rPr lang="en-US" dirty="0"/>
              <a:t>Cloud platforms</a:t>
            </a:r>
          </a:p>
          <a:p>
            <a:r>
              <a:rPr lang="en-US" dirty="0"/>
              <a:t>Microservices architecture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382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B7968-5C57-18D9-B1AB-E26A1E05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97A52-44D7-0E4A-3ADB-123A6A110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DevOps Skills Required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4C35A0-006E-EA97-EE08-4D3F58525C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59463"/>
            <a:ext cx="574548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Linux basics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 &amp; version control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CI/CD pipelines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Containers &amp; cloud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Scripting (Shell, Python)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 &amp; 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3066676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97E5E-18CC-2199-A8C1-1E4DFABB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642F-91DF-7CCE-145D-E01FA5C1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DevOps Job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E10B3-A422-206A-1167-557B4B9B9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DevOps Engineer</a:t>
            </a:r>
          </a:p>
          <a:p>
            <a:r>
              <a:rPr lang="en-US" dirty="0"/>
              <a:t>Site Reliability Engineer (SRE)</a:t>
            </a:r>
          </a:p>
          <a:p>
            <a:r>
              <a:rPr lang="en-US" dirty="0"/>
              <a:t>Cloud Engineer</a:t>
            </a:r>
          </a:p>
          <a:p>
            <a:r>
              <a:rPr lang="en-US" dirty="0"/>
              <a:t>Release Engineer</a:t>
            </a:r>
          </a:p>
          <a:p>
            <a:r>
              <a:rPr lang="en-US" dirty="0"/>
              <a:t>Automation Engineer</a:t>
            </a:r>
          </a:p>
        </p:txBody>
      </p:sp>
    </p:spTree>
    <p:extLst>
      <p:ext uri="{BB962C8B-B14F-4D97-AF65-F5344CB8AC3E}">
        <p14:creationId xmlns:p14="http://schemas.microsoft.com/office/powerpoint/2010/main" val="854492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A5242-42E9-45AD-40C6-0576A4725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E0FD-2D29-EF8B-287A-C16268271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94B0CD-1264-0B3B-73E8-5006F90742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1799526"/>
            <a:ext cx="8229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DevOps is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culture + automation + continuous delivery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Bridges gap between development and operations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speed, quality, and reliability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Backbone of modern software delivery</a:t>
            </a:r>
          </a:p>
        </p:txBody>
      </p:sp>
    </p:spTree>
    <p:extLst>
      <p:ext uri="{BB962C8B-B14F-4D97-AF65-F5344CB8AC3E}">
        <p14:creationId xmlns:p14="http://schemas.microsoft.com/office/powerpoint/2010/main" val="2526141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22C0-8A07-5FCE-57CA-8B961CE3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0807-C59A-BA1B-EF70-69B4D38A8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68011-509D-2760-A051-1D07C4E54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0441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4169</TotalTime>
  <Words>362</Words>
  <Application>Microsoft Office PowerPoint</Application>
  <PresentationFormat>On-screen Show (4:3)</PresentationFormat>
  <Paragraphs>110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Lecture 1: Introduction  </vt:lpstr>
      <vt:lpstr>What is DevOps</vt:lpstr>
      <vt:lpstr>What is DevOps</vt:lpstr>
      <vt:lpstr>Why DevOps is Needed</vt:lpstr>
      <vt:lpstr>Traditional vs DevOps Approach</vt:lpstr>
      <vt:lpstr>DevOps Culture</vt:lpstr>
      <vt:lpstr>DevOps Lifecycle</vt:lpstr>
      <vt:lpstr>DevOps Lifecycle</vt:lpstr>
      <vt:lpstr>Key DevOps Practices</vt:lpstr>
      <vt:lpstr>Continuous Integration (CI)</vt:lpstr>
      <vt:lpstr>Continuous Deployment (CD)</vt:lpstr>
      <vt:lpstr>DevOps Toolchain Overview</vt:lpstr>
      <vt:lpstr>Benefits of DevOps</vt:lpstr>
      <vt:lpstr>DevOps in Industry</vt:lpstr>
      <vt:lpstr>DevOps in Industry</vt:lpstr>
      <vt:lpstr>DevOps Skills Required</vt:lpstr>
      <vt:lpstr>DevOps Job Roles</vt:lpstr>
      <vt:lpstr>Summary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Dibakar Sinha [MU - Jaipur]</cp:lastModifiedBy>
  <cp:revision>29</cp:revision>
  <dcterms:created xsi:type="dcterms:W3CDTF">2013-01-27T09:14:16Z</dcterms:created>
  <dcterms:modified xsi:type="dcterms:W3CDTF">2026-01-06T04:23:05Z</dcterms:modified>
  <cp:category/>
</cp:coreProperties>
</file>